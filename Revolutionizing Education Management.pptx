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67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822F190-5F9C-4169-9A1B-D8B4FA6A317A}" type="datetimeFigureOut">
              <a:rPr lang="en-PK" smtClean="0"/>
              <a:t>29/08/2023</a:t>
            </a:fld>
            <a:endParaRPr lang="en-PK"/>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PK"/>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1966903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22F190-5F9C-4169-9A1B-D8B4FA6A317A}" type="datetimeFigureOut">
              <a:rPr lang="en-PK" smtClean="0"/>
              <a:t>29/08/2023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4194832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22F190-5F9C-4169-9A1B-D8B4FA6A317A}" type="datetimeFigureOut">
              <a:rPr lang="en-PK" smtClean="0"/>
              <a:t>29/08/2023</a:t>
            </a:fld>
            <a:endParaRPr lang="en-PK"/>
          </a:p>
        </p:txBody>
      </p:sp>
      <p:sp>
        <p:nvSpPr>
          <p:cNvPr id="5" name="Footer Placeholder 4"/>
          <p:cNvSpPr>
            <a:spLocks noGrp="1"/>
          </p:cNvSpPr>
          <p:nvPr>
            <p:ph type="ftr" sz="quarter" idx="11"/>
          </p:nvPr>
        </p:nvSpPr>
        <p:spPr/>
        <p:txBody>
          <a:bodyPr/>
          <a:lstStyle/>
          <a:p>
            <a:endParaRPr lang="en-PK"/>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4122721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22F190-5F9C-4169-9A1B-D8B4FA6A317A}" type="datetimeFigureOut">
              <a:rPr lang="en-PK" smtClean="0"/>
              <a:t>29/08/2023</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1310485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22F190-5F9C-4169-9A1B-D8B4FA6A317A}" type="datetimeFigureOut">
              <a:rPr lang="en-PK" smtClean="0"/>
              <a:t>29/08/2023</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145605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22F190-5F9C-4169-9A1B-D8B4FA6A317A}" type="datetimeFigureOut">
              <a:rPr lang="en-PK" smtClean="0"/>
              <a:t>29/08/2023</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3377452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22F190-5F9C-4169-9A1B-D8B4FA6A317A}" type="datetimeFigureOut">
              <a:rPr lang="en-PK" smtClean="0"/>
              <a:t>29/08/2023</a:t>
            </a:fld>
            <a:endParaRPr lang="en-PK"/>
          </a:p>
        </p:txBody>
      </p:sp>
      <p:sp>
        <p:nvSpPr>
          <p:cNvPr id="3" name="Footer Placeholder 2"/>
          <p:cNvSpPr>
            <a:spLocks noGrp="1"/>
          </p:cNvSpPr>
          <p:nvPr>
            <p:ph type="ftr" sz="quarter" idx="11"/>
          </p:nvPr>
        </p:nvSpPr>
        <p:spPr/>
        <p:txBody>
          <a:bodyPr/>
          <a:lstStyle/>
          <a:p>
            <a:endParaRPr lang="en-PK"/>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383457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22F190-5F9C-4169-9A1B-D8B4FA6A317A}" type="datetimeFigureOut">
              <a:rPr lang="en-PK" smtClean="0"/>
              <a:t>29/08/2023</a:t>
            </a:fld>
            <a:endParaRPr lang="en-PK"/>
          </a:p>
        </p:txBody>
      </p:sp>
      <p:sp>
        <p:nvSpPr>
          <p:cNvPr id="6" name="Footer Placeholder 5"/>
          <p:cNvSpPr>
            <a:spLocks noGrp="1"/>
          </p:cNvSpPr>
          <p:nvPr>
            <p:ph type="ftr" sz="quarter" idx="11"/>
          </p:nvPr>
        </p:nvSpPr>
        <p:spPr/>
        <p:txBody>
          <a:bodyPr/>
          <a:lstStyle/>
          <a:p>
            <a:endParaRPr lang="en-PK"/>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1964960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22F190-5F9C-4169-9A1B-D8B4FA6A317A}" type="datetimeFigureOut">
              <a:rPr lang="en-PK" smtClean="0"/>
              <a:t>29/08/2023</a:t>
            </a:fld>
            <a:endParaRPr lang="en-PK"/>
          </a:p>
        </p:txBody>
      </p:sp>
      <p:sp>
        <p:nvSpPr>
          <p:cNvPr id="6" name="Footer Placeholder 5"/>
          <p:cNvSpPr>
            <a:spLocks noGrp="1"/>
          </p:cNvSpPr>
          <p:nvPr>
            <p:ph type="ftr" sz="quarter" idx="11"/>
          </p:nvPr>
        </p:nvSpPr>
        <p:spPr/>
        <p:txBody>
          <a:bodyPr/>
          <a:lstStyle/>
          <a:p>
            <a:endParaRPr lang="en-PK"/>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3846558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22F190-5F9C-4169-9A1B-D8B4FA6A317A}" type="datetimeFigureOut">
              <a:rPr lang="en-PK" smtClean="0"/>
              <a:t>29/08/2023</a:t>
            </a:fld>
            <a:endParaRPr lang="en-PK"/>
          </a:p>
        </p:txBody>
      </p:sp>
      <p:sp>
        <p:nvSpPr>
          <p:cNvPr id="6" name="Footer Placeholder 5"/>
          <p:cNvSpPr>
            <a:spLocks noGrp="1"/>
          </p:cNvSpPr>
          <p:nvPr>
            <p:ph type="ftr" sz="quarter" idx="11"/>
          </p:nvPr>
        </p:nvSpPr>
        <p:spPr/>
        <p:txBody>
          <a:bodyPr/>
          <a:lstStyle/>
          <a:p>
            <a:endParaRPr lang="en-PK"/>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1843291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822F190-5F9C-4169-9A1B-D8B4FA6A317A}" type="datetimeFigureOut">
              <a:rPr lang="en-PK" smtClean="0"/>
              <a:t>29/08/2023</a:t>
            </a:fld>
            <a:endParaRPr lang="en-PK"/>
          </a:p>
        </p:txBody>
      </p:sp>
      <p:sp>
        <p:nvSpPr>
          <p:cNvPr id="5" name="Footer Placeholder 4"/>
          <p:cNvSpPr>
            <a:spLocks noGrp="1"/>
          </p:cNvSpPr>
          <p:nvPr>
            <p:ph type="ftr" sz="quarter" idx="11"/>
          </p:nvPr>
        </p:nvSpPr>
        <p:spPr/>
        <p:txBody>
          <a:bodyPr/>
          <a:lstStyle/>
          <a:p>
            <a:endParaRPr lang="en-PK"/>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1980889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822F190-5F9C-4169-9A1B-D8B4FA6A317A}" type="datetimeFigureOut">
              <a:rPr lang="en-PK" smtClean="0"/>
              <a:t>29/08/2023</a:t>
            </a:fld>
            <a:endParaRPr lang="en-PK"/>
          </a:p>
        </p:txBody>
      </p:sp>
      <p:sp>
        <p:nvSpPr>
          <p:cNvPr id="5" name="Footer Placeholder 4"/>
          <p:cNvSpPr>
            <a:spLocks noGrp="1"/>
          </p:cNvSpPr>
          <p:nvPr>
            <p:ph type="ftr" sz="quarter" idx="11"/>
          </p:nvPr>
        </p:nvSpPr>
        <p:spPr/>
        <p:txBody>
          <a:bodyPr/>
          <a:lstStyle/>
          <a:p>
            <a:endParaRPr lang="en-PK"/>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1481018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22F190-5F9C-4169-9A1B-D8B4FA6A317A}" type="datetimeFigureOut">
              <a:rPr lang="en-PK" smtClean="0"/>
              <a:t>29/08/2023</a:t>
            </a:fld>
            <a:endParaRPr lang="en-PK"/>
          </a:p>
        </p:txBody>
      </p:sp>
      <p:sp>
        <p:nvSpPr>
          <p:cNvPr id="5" name="Footer Placeholder 4"/>
          <p:cNvSpPr>
            <a:spLocks noGrp="1"/>
          </p:cNvSpPr>
          <p:nvPr>
            <p:ph type="ftr" sz="quarter" idx="11"/>
          </p:nvPr>
        </p:nvSpPr>
        <p:spPr/>
        <p:txBody>
          <a:bodyPr/>
          <a:lstStyle/>
          <a:p>
            <a:endParaRPr lang="en-PK"/>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15309822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822F190-5F9C-4169-9A1B-D8B4FA6A317A}" type="datetimeFigureOut">
              <a:rPr lang="en-PK" smtClean="0"/>
              <a:t>29/08/2023</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10387731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822F190-5F9C-4169-9A1B-D8B4FA6A317A}" type="datetimeFigureOut">
              <a:rPr lang="en-PK" smtClean="0"/>
              <a:t>29/08/2023</a:t>
            </a:fld>
            <a:endParaRPr lang="en-PK"/>
          </a:p>
        </p:txBody>
      </p:sp>
      <p:sp>
        <p:nvSpPr>
          <p:cNvPr id="8" name="Footer Placeholder 7"/>
          <p:cNvSpPr>
            <a:spLocks noGrp="1"/>
          </p:cNvSpPr>
          <p:nvPr>
            <p:ph type="ftr" sz="quarter" idx="11"/>
          </p:nvPr>
        </p:nvSpPr>
        <p:spPr>
          <a:xfrm>
            <a:off x="561111" y="6391838"/>
            <a:ext cx="3644282" cy="304801"/>
          </a:xfrm>
        </p:spPr>
        <p:txBody>
          <a:bodyPr/>
          <a:lstStyle/>
          <a:p>
            <a:endParaRPr lang="en-PK"/>
          </a:p>
        </p:txBody>
      </p:sp>
      <p:sp>
        <p:nvSpPr>
          <p:cNvPr id="9" name="Slide Number Placeholder 8"/>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22503540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822F190-5F9C-4169-9A1B-D8B4FA6A317A}" type="datetimeFigureOut">
              <a:rPr lang="en-PK" smtClean="0"/>
              <a:t>29/08/2023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6931667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822F190-5F9C-4169-9A1B-D8B4FA6A317A}" type="datetimeFigureOut">
              <a:rPr lang="en-PK" smtClean="0"/>
              <a:t>29/08/2023</a:t>
            </a:fld>
            <a:endParaRPr lang="en-PK"/>
          </a:p>
        </p:txBody>
      </p:sp>
      <p:sp>
        <p:nvSpPr>
          <p:cNvPr id="5" name="Footer Placeholder 4"/>
          <p:cNvSpPr>
            <a:spLocks noGrp="1"/>
          </p:cNvSpPr>
          <p:nvPr>
            <p:ph type="ftr" sz="quarter" idx="11"/>
          </p:nvPr>
        </p:nvSpPr>
        <p:spPr/>
        <p:txBody>
          <a:bodyPr/>
          <a:lstStyle/>
          <a:p>
            <a:endParaRPr lang="en-PK"/>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15389531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BED7E-57BF-81EF-1AA2-68046266E5AE}"/>
              </a:ext>
            </a:extLst>
          </p:cNvPr>
          <p:cNvSpPr>
            <a:spLocks noGrp="1"/>
          </p:cNvSpPr>
          <p:nvPr>
            <p:ph type="title"/>
          </p:nvPr>
        </p:nvSpPr>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8BE1143B-6A4C-CC2E-B2C3-160DCFE0723E}"/>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2CFC207D-FCF6-87F6-618B-D9C02E74D698}"/>
              </a:ext>
            </a:extLst>
          </p:cNvPr>
          <p:cNvSpPr>
            <a:spLocks noGrp="1"/>
          </p:cNvSpPr>
          <p:nvPr>
            <p:ph type="dt" sz="half" idx="10"/>
          </p:nvPr>
        </p:nvSpPr>
        <p:spPr/>
        <p:txBody>
          <a:bodyPr/>
          <a:lstStyle/>
          <a:p>
            <a:fld id="{1822F190-5F9C-4169-9A1B-D8B4FA6A317A}" type="datetimeFigureOut">
              <a:rPr lang="en-PK" smtClean="0"/>
              <a:t>29/08/2023</a:t>
            </a:fld>
            <a:endParaRPr lang="en-PK"/>
          </a:p>
        </p:txBody>
      </p:sp>
      <p:sp>
        <p:nvSpPr>
          <p:cNvPr id="5" name="Footer Placeholder 4">
            <a:extLst>
              <a:ext uri="{FF2B5EF4-FFF2-40B4-BE49-F238E27FC236}">
                <a16:creationId xmlns:a16="http://schemas.microsoft.com/office/drawing/2014/main" id="{4F062CA6-FA08-3EB5-7B5F-1E9FA28B20A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370D4A2-D4F1-D386-2740-CF7578BDA337}"/>
              </a:ext>
            </a:extLst>
          </p:cNvPr>
          <p:cNvSpPr>
            <a:spLocks noGrp="1"/>
          </p:cNvSpPr>
          <p:nvPr>
            <p:ph type="sldNum" sz="quarter" idx="12"/>
          </p:nvPr>
        </p:nvSpPr>
        <p:spPr/>
        <p:txBody>
          <a:bodyPr/>
          <a:lstStyle/>
          <a:p>
            <a:fld id="{DD203B79-EAF1-443F-BCD0-DB0B29022AF0}" type="slidenum">
              <a:rPr lang="en-PK" smtClean="0"/>
              <a:t>‹#›</a:t>
            </a:fld>
            <a:endParaRPr lang="en-PK"/>
          </a:p>
        </p:txBody>
      </p:sp>
    </p:spTree>
    <p:extLst>
      <p:ext uri="{BB962C8B-B14F-4D97-AF65-F5344CB8AC3E}">
        <p14:creationId xmlns:p14="http://schemas.microsoft.com/office/powerpoint/2010/main" val="2059827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0">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822F190-5F9C-4169-9A1B-D8B4FA6A317A}" type="datetimeFigureOut">
              <a:rPr lang="en-PK" smtClean="0"/>
              <a:t>29/08/2023</a:t>
            </a:fld>
            <a:endParaRPr lang="en-PK"/>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PK"/>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D203B79-EAF1-443F-BCD0-DB0B29022AF0}" type="slidenum">
              <a:rPr lang="en-PK" smtClean="0"/>
              <a:t>‹#›</a:t>
            </a:fld>
            <a:endParaRPr lang="en-PK"/>
          </a:p>
        </p:txBody>
      </p:sp>
    </p:spTree>
    <p:extLst>
      <p:ext uri="{BB962C8B-B14F-4D97-AF65-F5344CB8AC3E}">
        <p14:creationId xmlns:p14="http://schemas.microsoft.com/office/powerpoint/2010/main" val="270420582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05D2-8659-33AC-3C1E-DF32DD8EB686}"/>
              </a:ext>
            </a:extLst>
          </p:cNvPr>
          <p:cNvSpPr>
            <a:spLocks noGrp="1"/>
          </p:cNvSpPr>
          <p:nvPr>
            <p:ph type="ctrTitle"/>
          </p:nvPr>
        </p:nvSpPr>
        <p:spPr/>
        <p:txBody>
          <a:bodyPr>
            <a:normAutofit fontScale="90000"/>
          </a:bodyPr>
          <a:lstStyle/>
          <a:p>
            <a:r>
              <a:rPr lang="en-US" dirty="0"/>
              <a:t>Revolutionizing Education Management: Introducing Fast Flex System</a:t>
            </a:r>
            <a:endParaRPr lang="en-PK" dirty="0"/>
          </a:p>
        </p:txBody>
      </p:sp>
      <p:sp>
        <p:nvSpPr>
          <p:cNvPr id="3" name="Subtitle 2">
            <a:extLst>
              <a:ext uri="{FF2B5EF4-FFF2-40B4-BE49-F238E27FC236}">
                <a16:creationId xmlns:a16="http://schemas.microsoft.com/office/drawing/2014/main" id="{68FCBBF6-B520-62E3-572D-B409BD69EE5C}"/>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21347565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0B174-EC95-8C47-2C8E-C6573B44E343}"/>
              </a:ext>
            </a:extLst>
          </p:cNvPr>
          <p:cNvSpPr>
            <a:spLocks noGrp="1"/>
          </p:cNvSpPr>
          <p:nvPr>
            <p:ph type="title"/>
          </p:nvPr>
        </p:nvSpPr>
        <p:spPr/>
        <p:txBody>
          <a:bodyPr/>
          <a:lstStyle/>
          <a:p>
            <a:r>
              <a:rPr lang="en-US" dirty="0"/>
              <a:t>Requirements:</a:t>
            </a:r>
            <a:endParaRPr lang="en-PK" dirty="0"/>
          </a:p>
        </p:txBody>
      </p:sp>
      <p:sp>
        <p:nvSpPr>
          <p:cNvPr id="3" name="Text Placeholder 2">
            <a:extLst>
              <a:ext uri="{FF2B5EF4-FFF2-40B4-BE49-F238E27FC236}">
                <a16:creationId xmlns:a16="http://schemas.microsoft.com/office/drawing/2014/main" id="{F82D815F-6325-203A-8E9E-EF4AFF944FEF}"/>
              </a:ext>
            </a:extLst>
          </p:cNvPr>
          <p:cNvSpPr>
            <a:spLocks noGrp="1"/>
          </p:cNvSpPr>
          <p:nvPr>
            <p:ph type="body" idx="1"/>
          </p:nvPr>
        </p:nvSpPr>
        <p:spPr/>
        <p:txBody>
          <a:bodyPr/>
          <a:lstStyle/>
          <a:p>
            <a:r>
              <a:rPr lang="en-US" dirty="0"/>
              <a:t>Elevate your educational experience through an online platform that offers:</a:t>
            </a:r>
          </a:p>
          <a:p>
            <a:r>
              <a:rPr lang="en-US" dirty="0"/>
              <a:t>- Empower students with access to their comprehensive academic data, including marks, attendance, registered courses, and grades.</a:t>
            </a:r>
          </a:p>
          <a:p>
            <a:r>
              <a:rPr lang="en-US" dirty="0"/>
              <a:t>- Enable faculty to efficiently update student marks, attendance, and grades.</a:t>
            </a:r>
            <a:endParaRPr lang="en-PK" dirty="0"/>
          </a:p>
        </p:txBody>
      </p:sp>
    </p:spTree>
    <p:extLst>
      <p:ext uri="{BB962C8B-B14F-4D97-AF65-F5344CB8AC3E}">
        <p14:creationId xmlns:p14="http://schemas.microsoft.com/office/powerpoint/2010/main" val="14317609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30827-2F25-D7C3-D964-11CC3EFB875B}"/>
              </a:ext>
            </a:extLst>
          </p:cNvPr>
          <p:cNvSpPr>
            <a:spLocks noGrp="1"/>
          </p:cNvSpPr>
          <p:nvPr>
            <p:ph type="title"/>
          </p:nvPr>
        </p:nvSpPr>
        <p:spPr/>
        <p:txBody>
          <a:bodyPr/>
          <a:lstStyle/>
          <a:p>
            <a:r>
              <a:rPr lang="en-US"/>
              <a:t>Advanced Features - Igniting Excellence</a:t>
            </a:r>
            <a:endParaRPr lang="en-PK"/>
          </a:p>
        </p:txBody>
      </p:sp>
      <p:sp>
        <p:nvSpPr>
          <p:cNvPr id="3" name="Text Placeholder 2">
            <a:extLst>
              <a:ext uri="{FF2B5EF4-FFF2-40B4-BE49-F238E27FC236}">
                <a16:creationId xmlns:a16="http://schemas.microsoft.com/office/drawing/2014/main" id="{BAFBEADD-583F-B515-9508-05218E48DDED}"/>
              </a:ext>
            </a:extLst>
          </p:cNvPr>
          <p:cNvSpPr>
            <a:spLocks noGrp="1"/>
          </p:cNvSpPr>
          <p:nvPr>
            <p:ph type="body" idx="1"/>
          </p:nvPr>
        </p:nvSpPr>
        <p:spPr/>
        <p:txBody>
          <a:bodyPr>
            <a:normAutofit fontScale="85000" lnSpcReduction="20000"/>
          </a:bodyPr>
          <a:lstStyle/>
          <a:p>
            <a:r>
              <a:rPr lang="en-US" dirty="0"/>
              <a:t>- Introducing a dynamic </a:t>
            </a:r>
            <a:r>
              <a:rPr lang="en-US" dirty="0" err="1"/>
              <a:t>Rollnumber</a:t>
            </a:r>
            <a:r>
              <a:rPr lang="en-US" dirty="0"/>
              <a:t> Generator for streamlined identification.</a:t>
            </a:r>
          </a:p>
          <a:p>
            <a:r>
              <a:rPr lang="en-US" dirty="0"/>
              <a:t>- Facilitate seamless communication through WhatsApp-style Chatting Functionality.</a:t>
            </a:r>
          </a:p>
          <a:p>
            <a:r>
              <a:rPr lang="en-US" dirty="0"/>
              <a:t>- Ensure effective communication with Message Delivery Status and Unseen Message Tracking.</a:t>
            </a:r>
          </a:p>
          <a:p>
            <a:r>
              <a:rPr lang="en-US" dirty="0"/>
              <a:t>- Stay informed with the Notification System.</a:t>
            </a:r>
          </a:p>
          <a:p>
            <a:r>
              <a:rPr lang="en-US" dirty="0"/>
              <a:t>- Foster collaboration with Group Chatting capabilities.</a:t>
            </a:r>
          </a:p>
          <a:p>
            <a:r>
              <a:rPr lang="en-US" dirty="0"/>
              <a:t>- Showcase achievements through a dedicated Photo Gallery for students and faculties.</a:t>
            </a:r>
          </a:p>
          <a:p>
            <a:r>
              <a:rPr lang="en-US" dirty="0"/>
              <a:t>- Enhance security with User Login History tracking for both students and faculty.</a:t>
            </a:r>
          </a:p>
          <a:p>
            <a:r>
              <a:rPr lang="en-US" dirty="0"/>
              <a:t>- Empower students with Downloadable Marksheets.</a:t>
            </a:r>
          </a:p>
          <a:p>
            <a:r>
              <a:rPr lang="en-US" dirty="0"/>
              <a:t>- Broadcast important announcements using the Notification Broadcasting feature.</a:t>
            </a:r>
          </a:p>
          <a:p>
            <a:r>
              <a:rPr lang="en-US" dirty="0"/>
              <a:t>- Simplify result dissemination with the Result Declaration feature.</a:t>
            </a:r>
            <a:endParaRPr lang="en-PK" dirty="0"/>
          </a:p>
        </p:txBody>
      </p:sp>
    </p:spTree>
    <p:extLst>
      <p:ext uri="{BB962C8B-B14F-4D97-AF65-F5344CB8AC3E}">
        <p14:creationId xmlns:p14="http://schemas.microsoft.com/office/powerpoint/2010/main" val="39902141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E07FD-650D-3D58-9DF5-061155301DE8}"/>
              </a:ext>
            </a:extLst>
          </p:cNvPr>
          <p:cNvSpPr>
            <a:spLocks noGrp="1"/>
          </p:cNvSpPr>
          <p:nvPr>
            <p:ph type="title"/>
          </p:nvPr>
        </p:nvSpPr>
        <p:spPr/>
        <p:txBody>
          <a:bodyPr/>
          <a:lstStyle/>
          <a:p>
            <a:r>
              <a:rPr lang="en-US"/>
              <a:t>Analysis</a:t>
            </a:r>
            <a:endParaRPr lang="en-PK"/>
          </a:p>
        </p:txBody>
      </p:sp>
      <p:sp>
        <p:nvSpPr>
          <p:cNvPr id="3" name="Text Placeholder 2">
            <a:extLst>
              <a:ext uri="{FF2B5EF4-FFF2-40B4-BE49-F238E27FC236}">
                <a16:creationId xmlns:a16="http://schemas.microsoft.com/office/drawing/2014/main" id="{FBAFA2FC-7CE4-1AC8-0348-0A82E264752F}"/>
              </a:ext>
            </a:extLst>
          </p:cNvPr>
          <p:cNvSpPr>
            <a:spLocks noGrp="1"/>
          </p:cNvSpPr>
          <p:nvPr>
            <p:ph type="body" idx="1"/>
          </p:nvPr>
        </p:nvSpPr>
        <p:spPr/>
        <p:txBody>
          <a:bodyPr/>
          <a:lstStyle/>
          <a:p>
            <a:r>
              <a:rPr lang="en-US" dirty="0"/>
              <a:t>Our analysis is complete, confirming the clarity, completeness, and absence of ambiguity in our requirements.</a:t>
            </a:r>
            <a:endParaRPr lang="en-PK" dirty="0"/>
          </a:p>
        </p:txBody>
      </p:sp>
    </p:spTree>
    <p:extLst>
      <p:ext uri="{BB962C8B-B14F-4D97-AF65-F5344CB8AC3E}">
        <p14:creationId xmlns:p14="http://schemas.microsoft.com/office/powerpoint/2010/main" val="5700775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F7F22-4AD8-8001-B188-50194DB839DB}"/>
              </a:ext>
            </a:extLst>
          </p:cNvPr>
          <p:cNvSpPr>
            <a:spLocks noGrp="1"/>
          </p:cNvSpPr>
          <p:nvPr>
            <p:ph type="title"/>
          </p:nvPr>
        </p:nvSpPr>
        <p:spPr/>
        <p:txBody>
          <a:bodyPr/>
          <a:lstStyle/>
          <a:p>
            <a:r>
              <a:rPr lang="en-US"/>
              <a:t>Addressing the Problem</a:t>
            </a:r>
            <a:endParaRPr lang="en-PK"/>
          </a:p>
        </p:txBody>
      </p:sp>
      <p:sp>
        <p:nvSpPr>
          <p:cNvPr id="3" name="Text Placeholder 2">
            <a:extLst>
              <a:ext uri="{FF2B5EF4-FFF2-40B4-BE49-F238E27FC236}">
                <a16:creationId xmlns:a16="http://schemas.microsoft.com/office/drawing/2014/main" id="{0744539B-A54A-4D83-35E9-6E3A89B7E2DD}"/>
              </a:ext>
            </a:extLst>
          </p:cNvPr>
          <p:cNvSpPr>
            <a:spLocks noGrp="1"/>
          </p:cNvSpPr>
          <p:nvPr>
            <p:ph type="body" idx="1"/>
          </p:nvPr>
        </p:nvSpPr>
        <p:spPr/>
        <p:txBody>
          <a:bodyPr/>
          <a:lstStyle/>
          <a:p>
            <a:r>
              <a:rPr lang="en-US" dirty="0"/>
              <a:t>Fast Flex emerges as a transformative solution, building upon existing university software. The differentiating factors that set us apart are:</a:t>
            </a:r>
          </a:p>
          <a:p>
            <a:r>
              <a:rPr lang="en-US" dirty="0"/>
              <a:t>- Students can securely download and retain their Marksheets locally, safeguarding valuable academic records.</a:t>
            </a:r>
          </a:p>
          <a:p>
            <a:r>
              <a:rPr lang="en-US" dirty="0"/>
              <a:t>- The inclusion of a Photo Gallery enriches the platform with multimedia content, enhancing the learning experience.</a:t>
            </a:r>
          </a:p>
          <a:p>
            <a:r>
              <a:rPr lang="en-US" dirty="0"/>
              <a:t>- Communication is taken to new heights with a WhatsApp-inspired system, connecting students and teachers seamlessly.</a:t>
            </a:r>
          </a:p>
          <a:p>
            <a:r>
              <a:rPr lang="en-US" dirty="0"/>
              <a:t>- The storage of Login History adds an extra layer of security.</a:t>
            </a:r>
            <a:endParaRPr lang="en-PK" dirty="0"/>
          </a:p>
        </p:txBody>
      </p:sp>
    </p:spTree>
    <p:extLst>
      <p:ext uri="{BB962C8B-B14F-4D97-AF65-F5344CB8AC3E}">
        <p14:creationId xmlns:p14="http://schemas.microsoft.com/office/powerpoint/2010/main" val="42659036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E030-D4A3-070B-146A-516E1FEAED42}"/>
              </a:ext>
            </a:extLst>
          </p:cNvPr>
          <p:cNvSpPr>
            <a:spLocks noGrp="1"/>
          </p:cNvSpPr>
          <p:nvPr>
            <p:ph type="title"/>
          </p:nvPr>
        </p:nvSpPr>
        <p:spPr/>
        <p:txBody>
          <a:bodyPr/>
          <a:lstStyle/>
          <a:p>
            <a:r>
              <a:rPr lang="en-US"/>
              <a:t>High-Level Design</a:t>
            </a:r>
            <a:endParaRPr lang="en-PK"/>
          </a:p>
        </p:txBody>
      </p:sp>
      <p:sp>
        <p:nvSpPr>
          <p:cNvPr id="3" name="Text Placeholder 2">
            <a:extLst>
              <a:ext uri="{FF2B5EF4-FFF2-40B4-BE49-F238E27FC236}">
                <a16:creationId xmlns:a16="http://schemas.microsoft.com/office/drawing/2014/main" id="{09D55A7A-9137-4BAB-1376-17B14FC7A29E}"/>
              </a:ext>
            </a:extLst>
          </p:cNvPr>
          <p:cNvSpPr>
            <a:spLocks noGrp="1"/>
          </p:cNvSpPr>
          <p:nvPr>
            <p:ph type="body" idx="1"/>
          </p:nvPr>
        </p:nvSpPr>
        <p:spPr/>
        <p:txBody>
          <a:bodyPr/>
          <a:lstStyle/>
          <a:p>
            <a:r>
              <a:rPr lang="en-US" dirty="0"/>
              <a:t>We'll structure our system with meticulous attention to file modularity and component separation. Each component will have its designated files, facilitating clarity and reusability. For instance, the Chatting component will comprise files like Notification.java, Message Delivery Status.java, and Unseen Message Tracking.</a:t>
            </a:r>
            <a:endParaRPr lang="en-PK" dirty="0"/>
          </a:p>
        </p:txBody>
      </p:sp>
    </p:spTree>
    <p:extLst>
      <p:ext uri="{BB962C8B-B14F-4D97-AF65-F5344CB8AC3E}">
        <p14:creationId xmlns:p14="http://schemas.microsoft.com/office/powerpoint/2010/main" val="33550705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FBB5C-1DF8-3DCA-5B7A-A2620B0C04D2}"/>
              </a:ext>
            </a:extLst>
          </p:cNvPr>
          <p:cNvSpPr>
            <a:spLocks noGrp="1"/>
          </p:cNvSpPr>
          <p:nvPr>
            <p:ph type="title"/>
          </p:nvPr>
        </p:nvSpPr>
        <p:spPr/>
        <p:txBody>
          <a:bodyPr/>
          <a:lstStyle/>
          <a:p>
            <a:r>
              <a:rPr lang="en-US"/>
              <a:t>Low-Level Design</a:t>
            </a:r>
            <a:endParaRPr lang="en-PK"/>
          </a:p>
        </p:txBody>
      </p:sp>
      <p:sp>
        <p:nvSpPr>
          <p:cNvPr id="3" name="Text Placeholder 2">
            <a:extLst>
              <a:ext uri="{FF2B5EF4-FFF2-40B4-BE49-F238E27FC236}">
                <a16:creationId xmlns:a16="http://schemas.microsoft.com/office/drawing/2014/main" id="{4EF8C92A-148C-1CAC-311D-CF9ACEEAD1E8}"/>
              </a:ext>
            </a:extLst>
          </p:cNvPr>
          <p:cNvSpPr>
            <a:spLocks noGrp="1"/>
          </p:cNvSpPr>
          <p:nvPr>
            <p:ph type="body" idx="1"/>
          </p:nvPr>
        </p:nvSpPr>
        <p:spPr/>
        <p:txBody>
          <a:bodyPr/>
          <a:lstStyle/>
          <a:p>
            <a:r>
              <a:rPr lang="en-US" dirty="0"/>
              <a:t>Our framework combines the prowess of:</a:t>
            </a:r>
          </a:p>
          <a:p>
            <a:r>
              <a:rPr lang="en-US" dirty="0"/>
              <a:t>- </a:t>
            </a:r>
            <a:r>
              <a:rPr lang="en-US" dirty="0" err="1"/>
              <a:t>FrontEnd</a:t>
            </a:r>
            <a:r>
              <a:rPr lang="en-US" dirty="0"/>
              <a:t>: Java for a robust user interface.</a:t>
            </a:r>
          </a:p>
          <a:p>
            <a:r>
              <a:rPr lang="en-US" dirty="0"/>
              <a:t>- UI/UX Design: AI tools ensuring a modern and user-friendly experience.</a:t>
            </a:r>
          </a:p>
          <a:p>
            <a:r>
              <a:rPr lang="en-US" dirty="0"/>
              <a:t>- </a:t>
            </a:r>
            <a:r>
              <a:rPr lang="en-US" dirty="0" err="1"/>
              <a:t>BackEnd</a:t>
            </a:r>
            <a:r>
              <a:rPr lang="en-US" dirty="0"/>
              <a:t>: MySQL for reliable data management.</a:t>
            </a:r>
            <a:endParaRPr lang="en-PK" dirty="0"/>
          </a:p>
        </p:txBody>
      </p:sp>
    </p:spTree>
    <p:extLst>
      <p:ext uri="{BB962C8B-B14F-4D97-AF65-F5344CB8AC3E}">
        <p14:creationId xmlns:p14="http://schemas.microsoft.com/office/powerpoint/2010/main" val="37912139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A1AF9-BC4A-3CD4-6653-6136D529B9F6}"/>
              </a:ext>
            </a:extLst>
          </p:cNvPr>
          <p:cNvSpPr>
            <a:spLocks noGrp="1"/>
          </p:cNvSpPr>
          <p:nvPr>
            <p:ph type="title"/>
          </p:nvPr>
        </p:nvSpPr>
        <p:spPr/>
        <p:txBody>
          <a:bodyPr/>
          <a:lstStyle/>
          <a:p>
            <a:r>
              <a:rPr lang="en-US"/>
              <a:t>Documentation</a:t>
            </a:r>
            <a:endParaRPr lang="en-PK"/>
          </a:p>
        </p:txBody>
      </p:sp>
      <p:sp>
        <p:nvSpPr>
          <p:cNvPr id="3" name="Text Placeholder 2">
            <a:extLst>
              <a:ext uri="{FF2B5EF4-FFF2-40B4-BE49-F238E27FC236}">
                <a16:creationId xmlns:a16="http://schemas.microsoft.com/office/drawing/2014/main" id="{EE0D2F4C-18B2-6C8C-DED4-994E0E1120CE}"/>
              </a:ext>
            </a:extLst>
          </p:cNvPr>
          <p:cNvSpPr>
            <a:spLocks noGrp="1"/>
          </p:cNvSpPr>
          <p:nvPr>
            <p:ph type="body" idx="1"/>
          </p:nvPr>
        </p:nvSpPr>
        <p:spPr/>
        <p:txBody>
          <a:bodyPr/>
          <a:lstStyle/>
          <a:p>
            <a:r>
              <a:rPr lang="en-US" dirty="0"/>
              <a:t>We're committed to comprehensive documentation:</a:t>
            </a:r>
          </a:p>
          <a:p>
            <a:r>
              <a:rPr lang="en-US" dirty="0"/>
              <a:t>- Technical documentation for developers, ensuring smooth collaboration.</a:t>
            </a:r>
          </a:p>
          <a:p>
            <a:r>
              <a:rPr lang="en-US" dirty="0"/>
              <a:t>- User manuals, potentially in video format, simplifying software utilization.</a:t>
            </a:r>
            <a:endParaRPr lang="en-PK" dirty="0"/>
          </a:p>
        </p:txBody>
      </p:sp>
    </p:spTree>
    <p:extLst>
      <p:ext uri="{BB962C8B-B14F-4D97-AF65-F5344CB8AC3E}">
        <p14:creationId xmlns:p14="http://schemas.microsoft.com/office/powerpoint/2010/main" val="5964503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1FC2B-7608-B85D-E6FE-66FD257C0F16}"/>
              </a:ext>
            </a:extLst>
          </p:cNvPr>
          <p:cNvSpPr>
            <a:spLocks noGrp="1"/>
          </p:cNvSpPr>
          <p:nvPr>
            <p:ph type="title"/>
          </p:nvPr>
        </p:nvSpPr>
        <p:spPr/>
        <p:txBody>
          <a:bodyPr/>
          <a:lstStyle/>
          <a:p>
            <a:r>
              <a:rPr lang="en-US"/>
              <a:t>Deployment</a:t>
            </a:r>
            <a:endParaRPr lang="en-PK"/>
          </a:p>
        </p:txBody>
      </p:sp>
      <p:sp>
        <p:nvSpPr>
          <p:cNvPr id="3" name="Text Placeholder 2">
            <a:extLst>
              <a:ext uri="{FF2B5EF4-FFF2-40B4-BE49-F238E27FC236}">
                <a16:creationId xmlns:a16="http://schemas.microsoft.com/office/drawing/2014/main" id="{D55706A0-7965-D24E-3988-D6754289C261}"/>
              </a:ext>
            </a:extLst>
          </p:cNvPr>
          <p:cNvSpPr>
            <a:spLocks noGrp="1"/>
          </p:cNvSpPr>
          <p:nvPr>
            <p:ph type="body" idx="1"/>
          </p:nvPr>
        </p:nvSpPr>
        <p:spPr/>
        <p:txBody>
          <a:bodyPr/>
          <a:lstStyle/>
          <a:p>
            <a:r>
              <a:rPr lang="en-US" dirty="0"/>
              <a:t>Fast Flex's reach will extend to </a:t>
            </a:r>
            <a:r>
              <a:rPr lang="en-US" dirty="0" err="1"/>
              <a:t>Vercel</a:t>
            </a:r>
            <a:r>
              <a:rPr lang="en-US" dirty="0"/>
              <a:t>, ensuring widespread access and efficiency.</a:t>
            </a:r>
            <a:endParaRPr lang="en-PK" dirty="0"/>
          </a:p>
        </p:txBody>
      </p:sp>
    </p:spTree>
    <p:extLst>
      <p:ext uri="{BB962C8B-B14F-4D97-AF65-F5344CB8AC3E}">
        <p14:creationId xmlns:p14="http://schemas.microsoft.com/office/powerpoint/2010/main" val="15150121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CDF8A-59C1-DC5B-571D-B33B7CF1FCCC}"/>
              </a:ext>
            </a:extLst>
          </p:cNvPr>
          <p:cNvSpPr>
            <a:spLocks noGrp="1"/>
          </p:cNvSpPr>
          <p:nvPr>
            <p:ph type="ctrTitle"/>
          </p:nvPr>
        </p:nvSpPr>
        <p:spPr/>
        <p:txBody>
          <a:bodyPr>
            <a:normAutofit/>
          </a:bodyPr>
          <a:lstStyle/>
          <a:p>
            <a:r>
              <a:rPr lang="en-US" dirty="0"/>
              <a:t>Fast Flex System: Bridging Communication, Empowering Learning.</a:t>
            </a:r>
            <a:endParaRPr lang="en-PK" dirty="0"/>
          </a:p>
        </p:txBody>
      </p:sp>
      <p:sp>
        <p:nvSpPr>
          <p:cNvPr id="3" name="Subtitle 2">
            <a:extLst>
              <a:ext uri="{FF2B5EF4-FFF2-40B4-BE49-F238E27FC236}">
                <a16:creationId xmlns:a16="http://schemas.microsoft.com/office/drawing/2014/main" id="{F3F29E5A-26F6-EDE1-BEBE-7A65E7A8DDEE}"/>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32497667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6</TotalTime>
  <Words>428</Words>
  <Application>Microsoft Office PowerPoint</Application>
  <PresentationFormat>Widescreen</PresentationFormat>
  <Paragraphs>38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Ion Boardroom</vt:lpstr>
      <vt:lpstr>Revolutionizing Education Management: Introducing Fast Flex System</vt:lpstr>
      <vt:lpstr>Requirements:</vt:lpstr>
      <vt:lpstr>Advanced Features - Igniting Excellence</vt:lpstr>
      <vt:lpstr>Analysis</vt:lpstr>
      <vt:lpstr>Addressing the Problem</vt:lpstr>
      <vt:lpstr>High-Level Design</vt:lpstr>
      <vt:lpstr>Low-Level Design</vt:lpstr>
      <vt:lpstr>Documentation</vt:lpstr>
      <vt:lpstr>Deployment</vt:lpstr>
      <vt:lpstr>Fast Flex System: Bridging Communication, Empowering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Revolutionizing Education Management: Introducing Fast Flex System</dc:title>
  <dc:creator>m1228348</dc:creator>
  <cp:lastModifiedBy>m1228348</cp:lastModifiedBy>
  <cp:revision>1</cp:revision>
  <dcterms:created xsi:type="dcterms:W3CDTF">2023-08-28T20:11:03Z</dcterms:created>
  <dcterms:modified xsi:type="dcterms:W3CDTF">2023-08-28T20:17:06Z</dcterms:modified>
</cp:coreProperties>
</file>